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206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17920" y="-731520"/>
            <a:ext cx="4572000" cy="4572000"/>
          </a:xfrm>
          <a:prstGeom prst="ellipse">
            <a:avLst/>
          </a:prstGeom>
          <a:solidFill>
            <a:srgbClr val="1976D2">
              <a:alpha val="25000"/>
            </a:srgbClr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82880"/>
            <a:ext cx="2743200" cy="2743200"/>
          </a:xfrm>
          <a:prstGeom prst="ellipse">
            <a:avLst/>
          </a:prstGeom>
          <a:solidFill>
            <a:srgbClr val="00C853">
              <a:alpha val="15000"/>
            </a:srgbClr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5741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Predictive System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199" y="2389909"/>
            <a:ext cx="2673928" cy="232755"/>
          </a:xfrm>
          <a:prstGeom prst="rect">
            <a:avLst/>
          </a:prstGeom>
          <a:solidFill>
            <a:srgbClr val="FFFF0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170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or </a:t>
            </a:r>
            <a:r>
              <a:rPr lang="en-US" sz="17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Karachi, Sindh </a:t>
            </a:r>
            <a:r>
              <a:rPr lang="en-US" sz="170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Pakistan</a:t>
            </a:r>
            <a:endParaRPr lang="en-US" sz="1700" b="1" dirty="0"/>
          </a:p>
        </p:txBody>
      </p:sp>
      <p:sp>
        <p:nvSpPr>
          <p:cNvPr id="9" name="Shape 7"/>
          <p:cNvSpPr/>
          <p:nvPr/>
        </p:nvSpPr>
        <p:spPr>
          <a:xfrm>
            <a:off x="457199" y="3562003"/>
            <a:ext cx="4060825" cy="97185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Qadeer  |  10Pearls Internship </a:t>
            </a:r>
            <a:r>
              <a:rPr lang="en-US" sz="13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8 </a:t>
            </a: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Sukkur </a:t>
            </a:r>
            <a:r>
              <a:rPr lang="en-US" sz="13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</a:t>
            </a:r>
            <a:endParaRPr lang="en-US" sz="1300" b="1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" y="4541519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MLOps  •  GitHub Actions CI/CD  •  Hopsworks Feature </a:t>
            </a:r>
            <a:r>
              <a:rPr lang="en-US" sz="115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 </a:t>
            </a: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Serverless </a:t>
            </a: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15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1150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2316" y="1385738"/>
            <a:ext cx="1354568" cy="40675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17" y="150816"/>
            <a:ext cx="1506828" cy="5725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28600" y="502920"/>
            <a:ext cx="8686800" cy="18288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5669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384048" cy="6217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88720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2344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3232" y="150876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Karachi needs AQI monitoring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947672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947672"/>
            <a:ext cx="384048" cy="6217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947672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199339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" y="226771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4-phase </a:t>
            </a:r>
            <a:r>
              <a:rPr lang="en-US" sz="1050" dirty="0" err="1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</a:t>
            </a: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MLOps pipeline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706624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706624"/>
            <a:ext cx="384048" cy="6217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706624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" y="275234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Feature Pipeline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13232" y="302666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ingestion + 27 features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465576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465576"/>
            <a:ext cx="384048" cy="6217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465576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" y="35112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Training Pipeline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13232" y="378561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 training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4224528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4224528"/>
            <a:ext cx="384048" cy="6217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224528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" y="427024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13232" y="454456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monitoring UI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1188720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1188720"/>
            <a:ext cx="384048" cy="6217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1188720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93792" y="12344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Automation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193792" y="150876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workflows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54880" y="1947672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1947672"/>
            <a:ext cx="384048" cy="6217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1947672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93792" y="199339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193792" y="226771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and tools used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54880" y="2706624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2706624"/>
            <a:ext cx="384048" cy="6217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2706624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93792" y="275234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193792" y="302666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encountered and fixed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754880" y="3465576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54880" y="3465576"/>
            <a:ext cx="384048" cy="6217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3465576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193792" y="35112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 &amp; Roadmap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5193792" y="378561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done, what's next</a:t>
            </a:r>
            <a:endParaRPr lang="en-US" sz="1050" dirty="0"/>
          </a:p>
        </p:txBody>
      </p:sp>
      <p:pic>
        <p:nvPicPr>
          <p:cNvPr id="52" name="Picture 51" descr="AWS Partner 10Pearls LLC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2560" y="29845"/>
            <a:ext cx="1178560" cy="450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28600" y="502920"/>
            <a:ext cx="8686800" cy="18288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5669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Karachi, Sindh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24.8607°N  |  67.0011°E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AQI monitoring infrastructure exists in the region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24-72 hr air quality forecasting capability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data collection is impractical at scale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cannot proactively respond to pollution spikes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&amp; industrial activity worsens air quality seasonally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434840" y="1188720"/>
            <a:ext cx="43891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280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Health Impact Scale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617720" y="1719072"/>
            <a:ext cx="777240" cy="34747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71907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0" y="1764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17720" y="2203704"/>
            <a:ext cx="777240" cy="34747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220370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51–100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0" y="22494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2688336"/>
            <a:ext cx="777240" cy="347472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268833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101–150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0" y="27340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Unhealthy (Sensitive)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17720" y="3172968"/>
            <a:ext cx="777240" cy="347472"/>
          </a:xfrm>
          <a:prstGeom prst="rect">
            <a:avLst/>
          </a:prstGeom>
          <a:solidFill>
            <a:srgbClr val="D50000"/>
          </a:solidFill>
          <a:ln w="12700">
            <a:solidFill>
              <a:srgbClr val="D5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317296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151–200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0" y="32186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Unhealthy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7720" y="3657600"/>
            <a:ext cx="77724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365760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201–300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Unhealthy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17720" y="4142232"/>
            <a:ext cx="777240" cy="347472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414223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0" y="4187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Hazardous</a:t>
            </a:r>
            <a:endParaRPr lang="en-US" sz="1200" dirty="0"/>
          </a:p>
        </p:txBody>
      </p:sp>
      <p:pic>
        <p:nvPicPr>
          <p:cNvPr id="30" name="Picture 29" descr="AWS Partner 10Pearls LLC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2560" y="29845"/>
            <a:ext cx="1178560" cy="450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28600" y="502920"/>
            <a:ext cx="8686800" cy="18288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5669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</a:t>
            </a:r>
            <a:r>
              <a:rPr lang="en-US" sz="2200" b="1" dirty="0" smtClean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2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4-Phase MLOps Pipeline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1965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196596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887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Pipeline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26771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data ingestion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feature engineering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1783080" cy="18288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1546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40280" y="25603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87168" y="1188720"/>
            <a:ext cx="1965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87168" y="1188720"/>
            <a:ext cx="196596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87168" y="11887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578608" y="1783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78608" y="226771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model training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evaluation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78608" y="3063240"/>
            <a:ext cx="1783080" cy="18288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78608" y="31546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53128" y="25603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700016" y="1188720"/>
            <a:ext cx="1965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0016" y="1188720"/>
            <a:ext cx="1965960" cy="5029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0016" y="11887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791456" y="1783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Pipeline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91456" y="226771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/ 48h / 72h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predictions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91456" y="3063240"/>
            <a:ext cx="1783080" cy="18288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91456" y="31546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Phase 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65976" y="25603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912864" y="1188720"/>
            <a:ext cx="1965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912864" y="1188720"/>
            <a:ext cx="1965960" cy="50292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12864" y="11887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004304" y="1783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004304" y="226771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monitoring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forecasting UI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004304" y="3063240"/>
            <a:ext cx="1783080" cy="18288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04304" y="31546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Phase 4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7200" y="4645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smtClean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Hopsworks </a:t>
            </a:r>
            <a:r>
              <a:rPr lang="en-US" sz="12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 </a:t>
            </a:r>
            <a:r>
              <a:rPr lang="en-US" sz="1250" b="1" dirty="0" smtClean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data backbone connecting all pipeline phases</a:t>
            </a:r>
            <a:endParaRPr lang="en-US" sz="1250" dirty="0"/>
          </a:p>
        </p:txBody>
      </p:sp>
      <p:pic>
        <p:nvPicPr>
          <p:cNvPr id="39" name="Picture 38" descr="AWS Partner 10Pearls LLC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2560" y="29845"/>
            <a:ext cx="1178560" cy="450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28600" y="502920"/>
            <a:ext cx="8686800" cy="18288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5669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sz="2200" b="1" dirty="0" smtClean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r>
              <a:rPr lang="en-US" sz="2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605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416052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88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AQICN API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171907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api.waqi.info/feed/geo:{lat};{lon}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7472" y="2029968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</a:t>
            </a:r>
            <a:r>
              <a:rPr lang="en-US" sz="1450" dirty="0" smtClean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Index (composite)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</a:t>
            </a:r>
            <a:r>
              <a:rPr lang="en-US" sz="1450" dirty="0" smtClean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particulate matter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PM10 </a:t>
            </a:r>
            <a:r>
              <a:rPr lang="en-US" sz="1450" dirty="0" smtClean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Coarse </a:t>
            </a: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particulate matter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 </a:t>
            </a:r>
            <a:r>
              <a:rPr lang="en-US" sz="1450" dirty="0" smtClean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Ozone </a:t>
            </a: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NO2 </a:t>
            </a:r>
            <a:r>
              <a:rPr lang="en-US" sz="1450" dirty="0" smtClean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Nitrogen </a:t>
            </a: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dioxide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SO2 </a:t>
            </a:r>
            <a:r>
              <a:rPr lang="en-US" sz="1450" dirty="0" smtClean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</a:t>
            </a: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Sulfur dioxide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</a:t>
            </a:r>
            <a:r>
              <a:rPr lang="en-US" sz="1450" dirty="0" smtClean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monoxide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41605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88720"/>
            <a:ext cx="416052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188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 API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00600" y="171907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api.openweathermap.org/data/2.5/weather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82312" y="2029968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(°C)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(%)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Atmospheric Pressure (hPa)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Speed (m/s)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Direction (degrees)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Cover (%)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collected every hour  •  City: Karachi  •  Coordinates: 24.8607°N, 67.0011°E  •  Timezone: UTC</a:t>
            </a:r>
            <a:endParaRPr lang="en-US" sz="1050" dirty="0"/>
          </a:p>
        </p:txBody>
      </p:sp>
      <p:pic>
        <p:nvPicPr>
          <p:cNvPr id="17" name="Picture 16" descr="AWS Partner 10Pearls LLC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2560" y="29845"/>
            <a:ext cx="1178560" cy="450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28600" y="502920"/>
            <a:ext cx="8686800" cy="18288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5669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sz="2200" b="1" dirty="0" smtClean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r>
              <a:rPr lang="en-US" sz="2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(27 Features)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27432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887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Pollutants (7)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609344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pm25, pm10, o3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no2, so2, co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(raw index)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88720"/>
            <a:ext cx="274320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1887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(6)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609344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humidity, pressure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wind_speed, wind_deg, clouds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88720"/>
            <a:ext cx="2743200" cy="38404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1887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(4)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1609344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hour, day_of_week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month, is_weekend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274320" y="3063240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063240"/>
            <a:ext cx="2743200" cy="38404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063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(6)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" y="3483864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hour_sin / hour_cos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day_sin / day_cos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month_sin / month_cos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3246120" y="3063240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3063240"/>
            <a:ext cx="2743200" cy="384048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3063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 (3)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3483864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aqi_lag_1h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aqi_lag_3h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aqi_lag_24h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217920" y="3063240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3063240"/>
            <a:ext cx="2743200" cy="38404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063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(2)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63640" y="3483864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aqi_change_rate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aqi_rolling_3h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encoding prevents model from treating hour 23 and hour 0 as distant values — they are adjacent in time.</a:t>
            </a:r>
            <a:endParaRPr lang="en-US" sz="1050" dirty="0"/>
          </a:p>
        </p:txBody>
      </p:sp>
      <p:pic>
        <p:nvPicPr>
          <p:cNvPr id="31" name="Picture 30" descr="AWS Partner 10Pearls LLC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2560" y="29845"/>
            <a:ext cx="1178560" cy="450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28600" y="502920"/>
            <a:ext cx="8686800" cy="18288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5669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sz="2200" b="1" dirty="0" smtClean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r>
              <a:rPr lang="en-US" sz="2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Hopsworks Feature Store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3931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80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Group Configuration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47472" y="1719072"/>
            <a:ext cx="169164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84832" y="1719072"/>
            <a:ext cx="1965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773936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Group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121408" y="1773936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aqi_features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7472" y="2203704"/>
            <a:ext cx="169164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84832" y="2203704"/>
            <a:ext cx="1965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258568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121408" y="225856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7472" y="2688336"/>
            <a:ext cx="169164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84832" y="2688336"/>
            <a:ext cx="1965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743200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121408" y="274320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+ city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47472" y="3172968"/>
            <a:ext cx="169164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84832" y="3172968"/>
            <a:ext cx="1965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227832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Time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121408" y="3227832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(UTC)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7472" y="3657600"/>
            <a:ext cx="169164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84832" y="3657600"/>
            <a:ext cx="1965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712464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Enabled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121408" y="3712464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47472" y="4142232"/>
            <a:ext cx="169164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84832" y="4142232"/>
            <a:ext cx="1965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4197096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121408" y="4197096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aqi_predictor_10shine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434840" y="1188720"/>
            <a:ext cx="43891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72000" y="1280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Pipeline Flow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4572000" y="1755648"/>
            <a:ext cx="292608" cy="29260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1755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37760" y="17373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fetch_data.py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937760" y="19385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AQICN + OpenWeather APIs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0" y="2258568"/>
            <a:ext cx="292608" cy="29260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0" y="2258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37760" y="22402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compute_features.py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937760" y="24414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27 features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72000" y="2761488"/>
            <a:ext cx="292608" cy="29260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0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937760" y="27432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handling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937760" y="29443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→ 0.0 (dtype safety)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572000" y="3264408"/>
            <a:ext cx="292608" cy="29260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0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937760" y="32461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conversion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4937760" y="34472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→ datetime UTC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572000" y="3767328"/>
            <a:ext cx="292608" cy="29260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0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937760" y="37490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fg.insert(df)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4937760" y="39502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record to Hopsworks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572000" y="4270248"/>
            <a:ext cx="292608" cy="29260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0" y="4270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937760" y="42519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Materialization job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4937760" y="44531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Hopsworks runs async job</a:t>
            </a:r>
            <a:endParaRPr lang="en-US" sz="1050" dirty="0"/>
          </a:p>
        </p:txBody>
      </p:sp>
      <p:pic>
        <p:nvPicPr>
          <p:cNvPr id="58" name="Picture 57" descr="AWS Partner 10Pearls LLC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2560" y="29845"/>
            <a:ext cx="1178560" cy="450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28600" y="502920"/>
            <a:ext cx="8686800" cy="18288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5669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en-US" sz="2200" b="1" dirty="0" smtClean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r>
              <a:rPr lang="en-US" sz="2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0233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1719072"/>
            <a:ext cx="1554480" cy="320040"/>
          </a:xfrm>
          <a:prstGeom prst="rect">
            <a:avLst/>
          </a:prstGeom>
          <a:solidFill>
            <a:srgbClr val="E0F2F1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7672" y="1719072"/>
            <a:ext cx="2194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76479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84248" y="1764792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RandomForestRegressor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" y="2103120"/>
            <a:ext cx="1554480" cy="320040"/>
          </a:xfrm>
          <a:prstGeom prst="rect">
            <a:avLst/>
          </a:prstGeom>
          <a:solidFill>
            <a:srgbClr val="E0F2F1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47672" y="2103120"/>
            <a:ext cx="2194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14884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984248" y="2148840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decision trees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" y="2487168"/>
            <a:ext cx="1554480" cy="320040"/>
          </a:xfrm>
          <a:prstGeom prst="rect">
            <a:avLst/>
          </a:prstGeom>
          <a:solidFill>
            <a:srgbClr val="E0F2F1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47672" y="2487168"/>
            <a:ext cx="2194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53288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984248" y="2532888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(reproducibility)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7472" y="2871216"/>
            <a:ext cx="1554480" cy="320040"/>
          </a:xfrm>
          <a:prstGeom prst="rect">
            <a:avLst/>
          </a:prstGeom>
          <a:solidFill>
            <a:srgbClr val="E0F2F1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47672" y="2871216"/>
            <a:ext cx="2194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916936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984248" y="2916936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/ 20% split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7472" y="3255264"/>
            <a:ext cx="1554480" cy="320040"/>
          </a:xfrm>
          <a:prstGeom prst="rect">
            <a:avLst/>
          </a:prstGeom>
          <a:solidFill>
            <a:srgbClr val="E0F2F1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47672" y="3255264"/>
            <a:ext cx="2194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300984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984248" y="3300984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engineered features (pollutants + weather + time + cyclical + lags)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7472" y="3639312"/>
            <a:ext cx="1554480" cy="320040"/>
          </a:xfrm>
          <a:prstGeom prst="rect">
            <a:avLst/>
          </a:prstGeom>
          <a:solidFill>
            <a:srgbClr val="E0F2F1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47672" y="3639312"/>
            <a:ext cx="2194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68503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984248" y="3685032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aqi_next_24h, aqi_next_48h, aqi_next_72h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47472" y="4023360"/>
            <a:ext cx="1554480" cy="320040"/>
          </a:xfrm>
          <a:prstGeom prst="rect">
            <a:avLst/>
          </a:prstGeom>
          <a:solidFill>
            <a:srgbClr val="E0F2F1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47672" y="4023360"/>
            <a:ext cx="2194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406908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984248" y="4069080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RMSE, MAE, R² (per horizon)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47472" y="4407408"/>
            <a:ext cx="1554480" cy="320040"/>
          </a:xfrm>
          <a:prstGeom prst="rect">
            <a:avLst/>
          </a:prstGeom>
          <a:solidFill>
            <a:srgbClr val="E0F2F1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47672" y="4407408"/>
            <a:ext cx="2194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445312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984248" y="4453128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model_rf_24h.pkl, model_rf_48h.pkl, model_rf_72h.pkl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26280" y="1188720"/>
            <a:ext cx="4297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66344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Strategy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617720" y="1719072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17720" y="1719072"/>
            <a:ext cx="91440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17720" y="17190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09160" y="213055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Hopsworks Feature Store → read aqi_features Feature Group → train on real data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617720" y="3090672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17720" y="3090672"/>
            <a:ext cx="914400" cy="34747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17720" y="30906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09160" y="350215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5-day × 24-hour simulated data locally → train immediately without cloud dependency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24h RMSE: 18.62 | R²: 0.31  |  48h RMSE: 23.63  |  72h RMSE: 25.10</a:t>
            </a:r>
            <a:endParaRPr lang="en-US" sz="1050" dirty="0"/>
          </a:p>
        </p:txBody>
      </p:sp>
      <p:pic>
        <p:nvPicPr>
          <p:cNvPr id="51" name="Picture 50" descr="AWS Partner 10Pearls LLC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2560" y="29845"/>
            <a:ext cx="1178560" cy="450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28600" y="502920"/>
            <a:ext cx="8686800" cy="18288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5669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</a:t>
            </a:r>
            <a:r>
              <a:rPr lang="en-US" sz="2200" b="1" dirty="0" smtClean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61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4128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3-Day Forecast Chart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24128" y="162763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line chart showing predicted AQI for next 24h, 48h, 72h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261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58968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Alert System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58968" y="162763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banner: Good (green) / Moderate (yellow) / Unhealthy (red)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7391" y="2450592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24128" y="25786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24128" y="29260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bar chart showing top model decision drivers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487168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58968" y="25786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View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58968" y="29260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5 records from feature stream displayed as dataframe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785616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24128" y="38770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Status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24128" y="422452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indicator showing model active or unavailable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785616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3858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58968" y="38770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Mechanism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58968" y="422452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5 CSV paths, generates synthetic data if none found</a:t>
            </a:r>
            <a:endParaRPr lang="en-US" sz="1100" dirty="0"/>
          </a:p>
        </p:txBody>
      </p:sp>
      <p:pic>
        <p:nvPicPr>
          <p:cNvPr id="30" name="Picture 29" descr="AWS Partner 10Pearls LLC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2560" y="29845"/>
            <a:ext cx="1178560" cy="45021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 17"/>
          <p:cNvSpPr/>
          <p:nvPr/>
        </p:nvSpPr>
        <p:spPr>
          <a:xfrm>
            <a:off x="439188" y="250213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32" name="Text 12"/>
          <p:cNvSpPr/>
          <p:nvPr/>
        </p:nvSpPr>
        <p:spPr>
          <a:xfrm>
            <a:off x="426714" y="399066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28600" y="502920"/>
            <a:ext cx="8686800" cy="18288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5669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Automation </a:t>
            </a:r>
            <a:r>
              <a:rPr lang="en-US" sz="2200" b="1" dirty="0" smtClean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2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8595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 smtClean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feature_pipeline.yml</a:t>
            </a:r>
            <a:r>
              <a:rPr lang="en-US" sz="1400" b="1" dirty="0" smtClean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Workflow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719072"/>
            <a:ext cx="1536192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1907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21284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repo (actions/checkout@v4)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901952" y="181051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066544" y="1719072"/>
            <a:ext cx="1536192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66544" y="171907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57984" y="221284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Python 3.10 (actions/setup-python@v5)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02736" y="181051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67328" y="1719072"/>
            <a:ext cx="1536192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171907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58768" y="221284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pip packages (actions/cache@v4)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03520" y="181051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68112" y="1719072"/>
            <a:ext cx="1536192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68112" y="171907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59552" y="221284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-r requirements.txt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004304" y="181051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168896" y="1719072"/>
            <a:ext cx="1536192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68896" y="171907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60336" y="221284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python -m feature_pipeline.upload_to_hopsworks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33756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11480" y="34107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Secrets Required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65760" y="374904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AQICN_API_KEY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OPENWEATHER_API_KEY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HOPSWORKS_API_KEY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HOPSWORKS_PROJECT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4663440" y="333756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00600" y="34107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Configuration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800600" y="376732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schedule: </a:t>
            </a: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* * * *  (every hour)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dispatch: </a:t>
            </a: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workflow_dispatch enabled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Runner: </a:t>
            </a: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ubuntu-latest  |  Timeout: 10 min</a:t>
            </a:r>
            <a:endParaRPr lang="en-US" sz="1200" dirty="0"/>
          </a:p>
        </p:txBody>
      </p:sp>
      <p:pic>
        <p:nvPicPr>
          <p:cNvPr id="33" name="Picture 32" descr="AWS Partner 10Pearls LLC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2560" y="29845"/>
            <a:ext cx="1178560" cy="450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28600" y="502920"/>
            <a:ext cx="8686800" cy="18288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5669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201168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435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2.1.4  |  numpy 1.26.4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88720"/>
            <a:ext cx="201168" cy="8046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2435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1554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1.4.2  |  joblib 1.4.2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14884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48840"/>
            <a:ext cx="201168" cy="804672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2037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25146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tensorflow-cpu 2.16.1  (Phase 3)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14884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148840"/>
            <a:ext cx="201168" cy="8046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2037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25146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0.45.0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10896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108960"/>
            <a:ext cx="201168" cy="8046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1638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/ Storage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3474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hopsworks</a:t>
            </a: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3.7.0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10896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108960"/>
            <a:ext cx="201168" cy="804672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1638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83480" y="3474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1.35.0  |  plotly 5.22.0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06908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4069080"/>
            <a:ext cx="201168" cy="804672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1239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4434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2.31.0  |  python-dotenv 1.0.1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406908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4069080"/>
            <a:ext cx="201168" cy="804672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41239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83480" y="4434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 (free tier — unlimited)</a:t>
            </a:r>
            <a:endParaRPr lang="en-US" sz="1100" dirty="0"/>
          </a:p>
        </p:txBody>
      </p:sp>
      <p:pic>
        <p:nvPicPr>
          <p:cNvPr id="38" name="Picture 37" descr="AWS Partner 10Pearls LLC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2560" y="29845"/>
            <a:ext cx="1178560" cy="450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28600" y="502920"/>
            <a:ext cx="8686800" cy="18288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5669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How We Solved Them</a:t>
            </a:r>
            <a:endParaRPr lang="en-US" sz="2200" dirty="0"/>
          </a:p>
        </p:txBody>
      </p:sp>
      <p:pic>
        <p:nvPicPr>
          <p:cNvPr id="42" name="Picture 41" descr="AWS Partner 10Pearls LLC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2560" y="29845"/>
            <a:ext cx="1178560" cy="45021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Shape 4"/>
          <p:cNvSpPr/>
          <p:nvPr/>
        </p:nvSpPr>
        <p:spPr>
          <a:xfrm>
            <a:off x="274320" y="1188720"/>
            <a:ext cx="457200" cy="804672"/>
          </a:xfrm>
          <a:prstGeom prst="rect">
            <a:avLst/>
          </a:prstGeom>
          <a:solidFill>
            <a:srgbClr val="D50000"/>
          </a:solidFill>
          <a:ln w="12700">
            <a:solidFill>
              <a:srgbClr val="D50000"/>
            </a:solidFill>
            <a:prstDash val="solid"/>
          </a:ln>
        </p:spPr>
      </p:sp>
      <p:sp>
        <p:nvSpPr>
          <p:cNvPr id="35" name="Text 5"/>
          <p:cNvSpPr/>
          <p:nvPr/>
        </p:nvSpPr>
        <p:spPr>
          <a:xfrm>
            <a:off x="274320" y="118872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36" name="Shape 6"/>
          <p:cNvSpPr/>
          <p:nvPr/>
        </p:nvSpPr>
        <p:spPr>
          <a:xfrm>
            <a:off x="777240" y="1188720"/>
            <a:ext cx="3840480" cy="804672"/>
          </a:xfrm>
          <a:prstGeom prst="rect">
            <a:avLst/>
          </a:prstGeom>
          <a:solidFill>
            <a:srgbClr val="FFF8F8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Text 7"/>
          <p:cNvSpPr/>
          <p:nvPr/>
        </p:nvSpPr>
        <p:spPr>
          <a:xfrm>
            <a:off x="86868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5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dtype 'null' Error on Hopsworks</a:t>
            </a:r>
            <a:endParaRPr lang="en-US" sz="1150" dirty="0"/>
          </a:p>
        </p:txBody>
      </p:sp>
      <p:sp>
        <p:nvSpPr>
          <p:cNvPr id="38" name="Text 8"/>
          <p:cNvSpPr/>
          <p:nvPr/>
        </p:nvSpPr>
        <p:spPr>
          <a:xfrm>
            <a:off x="868680" y="15361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PM10 returns None from AQICN when unavailable. Hopsworks rejects null-dtype columns with a FeatureStoreException.</a:t>
            </a:r>
            <a:endParaRPr lang="en-US" sz="1000" dirty="0"/>
          </a:p>
        </p:txBody>
      </p:sp>
      <p:sp>
        <p:nvSpPr>
          <p:cNvPr id="39" name="Text 9"/>
          <p:cNvSpPr/>
          <p:nvPr/>
        </p:nvSpPr>
        <p:spPr>
          <a:xfrm>
            <a:off x="4663440" y="138988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5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0" name="Shape 10"/>
          <p:cNvSpPr/>
          <p:nvPr/>
        </p:nvSpPr>
        <p:spPr>
          <a:xfrm>
            <a:off x="4983480" y="1188720"/>
            <a:ext cx="3840480" cy="804672"/>
          </a:xfrm>
          <a:prstGeom prst="rect">
            <a:avLst/>
          </a:prstGeom>
          <a:solidFill>
            <a:srgbClr val="F1F8E9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Text 11"/>
          <p:cNvSpPr/>
          <p:nvPr/>
        </p:nvSpPr>
        <p:spPr>
          <a:xfrm>
            <a:off x="5074920" y="12344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Solution:</a:t>
            </a:r>
            <a:endParaRPr lang="en-US" sz="1100" dirty="0"/>
          </a:p>
        </p:txBody>
      </p:sp>
      <p:sp>
        <p:nvSpPr>
          <p:cNvPr id="43" name="Text 12"/>
          <p:cNvSpPr/>
          <p:nvPr/>
        </p:nvSpPr>
        <p:spPr>
          <a:xfrm>
            <a:off x="5074920" y="150876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pd.to_numeric(errors='coerce').fillna(0.0) on all non-string columns before insert. String columns use fillna('unknown').</a:t>
            </a:r>
            <a:endParaRPr lang="en-US" sz="1000" dirty="0"/>
          </a:p>
        </p:txBody>
      </p:sp>
      <p:sp>
        <p:nvSpPr>
          <p:cNvPr id="44" name="Shape 13"/>
          <p:cNvSpPr/>
          <p:nvPr/>
        </p:nvSpPr>
        <p:spPr>
          <a:xfrm>
            <a:off x="274320" y="2148840"/>
            <a:ext cx="457200" cy="8046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5" name="Text 14"/>
          <p:cNvSpPr/>
          <p:nvPr/>
        </p:nvSpPr>
        <p:spPr>
          <a:xfrm>
            <a:off x="274320" y="214884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46" name="Shape 15"/>
          <p:cNvSpPr/>
          <p:nvPr/>
        </p:nvSpPr>
        <p:spPr>
          <a:xfrm>
            <a:off x="777240" y="2148840"/>
            <a:ext cx="3840480" cy="804672"/>
          </a:xfrm>
          <a:prstGeom prst="rect">
            <a:avLst/>
          </a:prstGeom>
          <a:solidFill>
            <a:srgbClr val="FFF8F8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Text 16"/>
          <p:cNvSpPr/>
          <p:nvPr/>
        </p:nvSpPr>
        <p:spPr>
          <a:xfrm>
            <a:off x="86868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OOM (Exit Code 137)</a:t>
            </a:r>
            <a:endParaRPr lang="en-US" sz="1150" dirty="0"/>
          </a:p>
        </p:txBody>
      </p:sp>
      <p:sp>
        <p:nvSpPr>
          <p:cNvPr id="48" name="Text 17"/>
          <p:cNvSpPr/>
          <p:nvPr/>
        </p:nvSpPr>
        <p:spPr>
          <a:xfrm>
            <a:off x="868680" y="24963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GPU build required 7+ GB RAM. Free tier GitHub Actions runner hit memory limit.</a:t>
            </a:r>
            <a:endParaRPr lang="en-US" sz="1000" dirty="0"/>
          </a:p>
        </p:txBody>
      </p:sp>
      <p:sp>
        <p:nvSpPr>
          <p:cNvPr id="49" name="Text 18"/>
          <p:cNvSpPr/>
          <p:nvPr/>
        </p:nvSpPr>
        <p:spPr>
          <a:xfrm>
            <a:off x="4663440" y="23500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50" name="Shape 19"/>
          <p:cNvSpPr/>
          <p:nvPr/>
        </p:nvSpPr>
        <p:spPr>
          <a:xfrm>
            <a:off x="4983480" y="2148840"/>
            <a:ext cx="3840480" cy="804672"/>
          </a:xfrm>
          <a:prstGeom prst="rect">
            <a:avLst/>
          </a:prstGeom>
          <a:solidFill>
            <a:srgbClr val="F1F8E9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Text 20"/>
          <p:cNvSpPr/>
          <p:nvPr/>
        </p:nvSpPr>
        <p:spPr>
          <a:xfrm>
            <a:off x="5074920" y="2194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Solution:</a:t>
            </a:r>
            <a:endParaRPr lang="en-US" sz="1100" dirty="0"/>
          </a:p>
        </p:txBody>
      </p:sp>
      <p:sp>
        <p:nvSpPr>
          <p:cNvPr id="52" name="Text 21"/>
          <p:cNvSpPr/>
          <p:nvPr/>
        </p:nvSpPr>
        <p:spPr>
          <a:xfrm>
            <a:off x="5074920" y="246888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tensorflow-cpu 2.16.1 (~800 MB RAM). Added pip cache to speed up installs.</a:t>
            </a:r>
            <a:endParaRPr lang="en-US" sz="1000" dirty="0"/>
          </a:p>
        </p:txBody>
      </p:sp>
      <p:sp>
        <p:nvSpPr>
          <p:cNvPr id="53" name="Shape 22"/>
          <p:cNvSpPr/>
          <p:nvPr/>
        </p:nvSpPr>
        <p:spPr>
          <a:xfrm>
            <a:off x="274320" y="3108960"/>
            <a:ext cx="457200" cy="804672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54" name="Text 23"/>
          <p:cNvSpPr/>
          <p:nvPr/>
        </p:nvSpPr>
        <p:spPr>
          <a:xfrm>
            <a:off x="274320" y="310896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55" name="Shape 24"/>
          <p:cNvSpPr/>
          <p:nvPr/>
        </p:nvSpPr>
        <p:spPr>
          <a:xfrm>
            <a:off x="777240" y="3108960"/>
            <a:ext cx="3840480" cy="804672"/>
          </a:xfrm>
          <a:prstGeom prst="rect">
            <a:avLst/>
          </a:prstGeom>
          <a:solidFill>
            <a:srgbClr val="FFF8F8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6" name="Text 25"/>
          <p:cNvSpPr/>
          <p:nvPr/>
        </p:nvSpPr>
        <p:spPr>
          <a:xfrm>
            <a:off x="86868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Committed to Git Accidentally</a:t>
            </a:r>
            <a:endParaRPr lang="en-US" sz="1150" dirty="0"/>
          </a:p>
        </p:txBody>
      </p:sp>
      <p:sp>
        <p:nvSpPr>
          <p:cNvPr id="57" name="Text 26"/>
          <p:cNvSpPr/>
          <p:nvPr/>
        </p:nvSpPr>
        <p:spPr>
          <a:xfrm>
            <a:off x="868680" y="34564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were included in the initial commit before .gitignore was properly configured, risking credential exposure.</a:t>
            </a:r>
            <a:endParaRPr lang="en-US" sz="1000" dirty="0"/>
          </a:p>
        </p:txBody>
      </p:sp>
      <p:sp>
        <p:nvSpPr>
          <p:cNvPr id="58" name="Text 27"/>
          <p:cNvSpPr/>
          <p:nvPr/>
        </p:nvSpPr>
        <p:spPr>
          <a:xfrm>
            <a:off x="4663440" y="33101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59" name="Shape 28"/>
          <p:cNvSpPr/>
          <p:nvPr/>
        </p:nvSpPr>
        <p:spPr>
          <a:xfrm>
            <a:off x="4983480" y="3108960"/>
            <a:ext cx="3840480" cy="804672"/>
          </a:xfrm>
          <a:prstGeom prst="rect">
            <a:avLst/>
          </a:prstGeom>
          <a:solidFill>
            <a:srgbClr val="F1F8E9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0" name="Text 29"/>
          <p:cNvSpPr/>
          <p:nvPr/>
        </p:nvSpPr>
        <p:spPr>
          <a:xfrm>
            <a:off x="5074920" y="3154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Solution:</a:t>
            </a:r>
            <a:endParaRPr lang="en-US" sz="1100" dirty="0"/>
          </a:p>
        </p:txBody>
      </p:sp>
      <p:sp>
        <p:nvSpPr>
          <p:cNvPr id="61" name="Text 30"/>
          <p:cNvSpPr/>
          <p:nvPr/>
        </p:nvSpPr>
        <p:spPr>
          <a:xfrm>
            <a:off x="5074920" y="34290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git rm --cached .env to remove from tracking, committed the fix, and verified .gitignore before pushing.</a:t>
            </a:r>
            <a:endParaRPr lang="en-US" sz="1000" dirty="0"/>
          </a:p>
        </p:txBody>
      </p:sp>
      <p:sp>
        <p:nvSpPr>
          <p:cNvPr id="62" name="Shape 31"/>
          <p:cNvSpPr/>
          <p:nvPr/>
        </p:nvSpPr>
        <p:spPr>
          <a:xfrm>
            <a:off x="274320" y="4069080"/>
            <a:ext cx="457200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3" name="Text 32"/>
          <p:cNvSpPr/>
          <p:nvPr/>
        </p:nvSpPr>
        <p:spPr>
          <a:xfrm>
            <a:off x="274320" y="406908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64" name="Shape 33"/>
          <p:cNvSpPr/>
          <p:nvPr/>
        </p:nvSpPr>
        <p:spPr>
          <a:xfrm>
            <a:off x="777240" y="4069080"/>
            <a:ext cx="3840480" cy="804672"/>
          </a:xfrm>
          <a:prstGeom prst="rect">
            <a:avLst/>
          </a:prstGeom>
          <a:solidFill>
            <a:srgbClr val="FFF8F8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5" name="Text 34"/>
          <p:cNvSpPr/>
          <p:nvPr/>
        </p:nvSpPr>
        <p:spPr>
          <a:xfrm>
            <a:off x="86868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Poor Performance vs Random Forest</a:t>
            </a:r>
            <a:endParaRPr lang="en-US" sz="1150" dirty="0"/>
          </a:p>
        </p:txBody>
      </p:sp>
      <p:sp>
        <p:nvSpPr>
          <p:cNvPr id="66" name="Text 35"/>
          <p:cNvSpPr/>
          <p:nvPr/>
        </p:nvSpPr>
        <p:spPr>
          <a:xfrm>
            <a:off x="868680" y="44165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RMSE was 71.72 vs Random Forest RMSE 18.62. Deep learning underperformed on limited 720-record dataset.</a:t>
            </a:r>
            <a:endParaRPr lang="en-US" sz="1000" dirty="0"/>
          </a:p>
        </p:txBody>
      </p:sp>
      <p:sp>
        <p:nvSpPr>
          <p:cNvPr id="67" name="Text 36"/>
          <p:cNvSpPr/>
          <p:nvPr/>
        </p:nvSpPr>
        <p:spPr>
          <a:xfrm>
            <a:off x="4663440" y="42702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68" name="Shape 37"/>
          <p:cNvSpPr/>
          <p:nvPr/>
        </p:nvSpPr>
        <p:spPr>
          <a:xfrm>
            <a:off x="4983480" y="4069080"/>
            <a:ext cx="3840480" cy="804672"/>
          </a:xfrm>
          <a:prstGeom prst="rect">
            <a:avLst/>
          </a:prstGeom>
          <a:solidFill>
            <a:srgbClr val="F1F8E9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9" name="Text 38"/>
          <p:cNvSpPr/>
          <p:nvPr/>
        </p:nvSpPr>
        <p:spPr>
          <a:xfrm>
            <a:off x="5074920" y="41148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Solution:</a:t>
            </a:r>
            <a:endParaRPr lang="en-US" sz="1100" dirty="0"/>
          </a:p>
        </p:txBody>
      </p:sp>
      <p:sp>
        <p:nvSpPr>
          <p:cNvPr id="70" name="Text 39"/>
          <p:cNvSpPr/>
          <p:nvPr/>
        </p:nvSpPr>
        <p:spPr>
          <a:xfrm>
            <a:off x="5074920" y="438912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Random Forest as production model. LSTM planned for Phase 3 with more training data.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28600" y="502920"/>
            <a:ext cx="8686800" cy="18288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5669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Project Status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206240" cy="658368"/>
          </a:xfrm>
          <a:prstGeom prst="rect">
            <a:avLst/>
          </a:prstGeom>
          <a:solidFill>
            <a:srgbClr val="F1F8E9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182880" cy="658368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2435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fetch_data.py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88920" y="124358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0352" y="153619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from both APIs confirmed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947672"/>
            <a:ext cx="4206240" cy="658368"/>
          </a:xfrm>
          <a:prstGeom prst="rect">
            <a:avLst/>
          </a:prstGeom>
          <a:solidFill>
            <a:srgbClr val="F1F8E9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947672"/>
            <a:ext cx="182880" cy="658368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0025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compute_features.py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88920" y="20025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0352" y="229514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27 features generating correctly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706624"/>
            <a:ext cx="4206240" cy="658368"/>
          </a:xfrm>
          <a:prstGeom prst="rect">
            <a:avLst/>
          </a:prstGeom>
          <a:solidFill>
            <a:srgbClr val="F1F8E9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706624"/>
            <a:ext cx="182880" cy="658368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7614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upload_to_hopsworks.py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88920" y="27614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0352" y="305409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inserted to Feature Store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465576"/>
            <a:ext cx="4206240" cy="658368"/>
          </a:xfrm>
          <a:prstGeom prst="rect">
            <a:avLst/>
          </a:prstGeom>
          <a:solidFill>
            <a:srgbClr val="F1F8E9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465576"/>
            <a:ext cx="182880" cy="658368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520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feature_pipeline.yml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88920" y="35204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Active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30352" y="381304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hourly on GitHub Actions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224528"/>
            <a:ext cx="4206240" cy="658368"/>
          </a:xfrm>
          <a:prstGeom prst="rect">
            <a:avLst/>
          </a:prstGeom>
          <a:solidFill>
            <a:srgbClr val="F1F8E9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4224528"/>
            <a:ext cx="182880" cy="658368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42793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train_model.py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88920" y="42793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30352" y="457200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training with fallback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1188720"/>
            <a:ext cx="4206240" cy="658368"/>
          </a:xfrm>
          <a:prstGeom prst="rect">
            <a:avLst/>
          </a:prstGeom>
          <a:solidFill>
            <a:srgbClr val="F1F8E9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1188720"/>
            <a:ext cx="182880" cy="658368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65192" y="12435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upload_backfill.py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23760" y="124358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65192" y="153619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CSV bulk upload ready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1947672"/>
            <a:ext cx="4206240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1947672"/>
            <a:ext cx="182880" cy="65836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65192" y="20025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(Dashboard)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23760" y="20025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In Progress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965192" y="229514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— EDA, SHAP, 3-day forecast, email alerts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9160" y="2706624"/>
            <a:ext cx="4206240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2706624"/>
            <a:ext cx="182880" cy="65836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65192" y="27614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Pipeline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223760" y="27614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Phase 3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965192" y="305409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— RF models predicting 24h/48h/72h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09160" y="3465576"/>
            <a:ext cx="4206240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09160" y="3465576"/>
            <a:ext cx="182880" cy="65836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65192" y="3520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+ SHAP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223760" y="35204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Phase 3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965192" y="381304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+ explainability planned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09160" y="4224528"/>
            <a:ext cx="4206240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09160" y="4224528"/>
            <a:ext cx="182880" cy="65836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65192" y="42793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Deployment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223760" y="42793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Phase 4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965192" y="457200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dashboard on Streamlit Cloud</a:t>
            </a:r>
            <a:endParaRPr lang="en-US" sz="1000" dirty="0"/>
          </a:p>
        </p:txBody>
      </p:sp>
      <p:pic>
        <p:nvPicPr>
          <p:cNvPr id="56" name="Picture 55" descr="AWS Partner 10Pearls LLC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2560" y="29845"/>
            <a:ext cx="1178560" cy="450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28600" y="502920"/>
            <a:ext cx="8686800" cy="18288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5669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</a:t>
            </a:r>
            <a:r>
              <a:rPr lang="en-US" sz="2200" b="1" dirty="0" smtClean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</a:t>
            </a:r>
            <a:r>
              <a:rPr lang="en-US" sz="2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&amp; 4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4160520" cy="5486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8872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(Phase 3)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Pipeline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38862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model from Hopsworks Model Registry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latest features from online layer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24h / 48h / 72h AQI simultaneously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model integration + A/B comparison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 computation per prediction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88720"/>
            <a:ext cx="4160520" cy="54864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18872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(Phase 4)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Deployment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1828800"/>
            <a:ext cx="38862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Streamlit Community Cloud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Hopsworks feature reads in dashboard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AQI map for Karachi region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advisory notification system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 layout for field use</a:t>
            </a:r>
            <a:endParaRPr lang="en-US" sz="1450" dirty="0"/>
          </a:p>
        </p:txBody>
      </p:sp>
      <p:pic>
        <p:nvPicPr>
          <p:cNvPr id="14" name="Picture 13" descr="AWS Partner 10Pearls LLC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2560" y="29845"/>
            <a:ext cx="1178560" cy="450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1976D2">
              <a:alpha val="20000"/>
            </a:srgbClr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0C853">
              <a:alpha val="15000"/>
            </a:srgbClr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Real-Time AQI Predictive System  |  Karachi, Sindh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2743200"/>
            <a:ext cx="2743200" cy="36576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017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Project Repo:  github.com/Abdul-Qadeerr/10pearls-AQI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0" y="34015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Organization:  10Pearls </a:t>
            </a:r>
            <a:r>
              <a:rPr lang="en-US" sz="1300" dirty="0" smtClean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(Internship Program)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0" y="378561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Institution:  Sukkur IBA University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MLOps  •  GitHub Actions CI/CD  •  Hopsworks Feature Store  •  Python + Streamlit</a:t>
            </a:r>
            <a:endParaRPr lang="en-US" sz="1050" b="1" dirty="0">
              <a:solidFill>
                <a:schemeClr val="bg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60219"/>
            <a:ext cx="2514600" cy="7550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1261</Words>
  <Application>Microsoft Office PowerPoint</Application>
  <PresentationFormat>On-screen Show (16:9)</PresentationFormat>
  <Paragraphs>329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AQI Predictive System — Kandhkot</dc:title>
  <dc:subject>PptxGenJS Presentation</dc:subject>
  <dc:creator>Abdul Qadeer | 10Pearls</dc:creator>
  <cp:lastModifiedBy>Abdul Qadeer</cp:lastModifiedBy>
  <cp:revision>7</cp:revision>
  <dcterms:created xsi:type="dcterms:W3CDTF">2026-05-23T08:35:28Z</dcterms:created>
  <dcterms:modified xsi:type="dcterms:W3CDTF">2026-06-05T23:37:41Z</dcterms:modified>
</cp:coreProperties>
</file>